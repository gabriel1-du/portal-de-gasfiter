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71" r:id="rId11"/>
    <p:sldId id="272" r:id="rId12"/>
    <p:sldId id="266" r:id="rId13"/>
    <p:sldId id="270" r:id="rId14"/>
  </p:sldIdLst>
  <p:sldSz cx="18288000" cy="10287000"/>
  <p:notesSz cx="6858000" cy="9144000"/>
  <p:embeddedFontLst>
    <p:embeddedFont>
      <p:font typeface="Josefin Sans" pitchFamily="2" charset="0"/>
      <p:regular r:id="rId16"/>
      <p:bold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 snapToGrid="0">
      <p:cViewPr varScale="1">
        <p:scale>
          <a:sx n="70" d="100"/>
          <a:sy n="70" d="100"/>
        </p:scale>
        <p:origin x="810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d7d1018a7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6d7d1018a7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d7d1018a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6d7d1018a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d7d1018a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6d7d1018a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E7E11AA9-A425-DA88-2FA7-210AB378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d7d1018a7_0_20:notes">
            <a:extLst>
              <a:ext uri="{FF2B5EF4-FFF2-40B4-BE49-F238E27FC236}">
                <a16:creationId xmlns:a16="http://schemas.microsoft.com/office/drawing/2014/main" id="{E8B4376F-F8BA-300C-C606-E515E29CF0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6d7d1018a7_0_20:notes">
            <a:extLst>
              <a:ext uri="{FF2B5EF4-FFF2-40B4-BE49-F238E27FC236}">
                <a16:creationId xmlns:a16="http://schemas.microsoft.com/office/drawing/2014/main" id="{28155291-282C-3D92-B7E3-4D37F2944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200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E8822C19-D34A-2975-3371-B8F61C73F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d7d1018a7_0_20:notes">
            <a:extLst>
              <a:ext uri="{FF2B5EF4-FFF2-40B4-BE49-F238E27FC236}">
                <a16:creationId xmlns:a16="http://schemas.microsoft.com/office/drawing/2014/main" id="{15EDBA5E-3B6A-53A7-AEE0-66A637152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6d7d1018a7_0_20:notes">
            <a:extLst>
              <a:ext uri="{FF2B5EF4-FFF2-40B4-BE49-F238E27FC236}">
                <a16:creationId xmlns:a16="http://schemas.microsoft.com/office/drawing/2014/main" id="{A41CF684-C758-4E3C-2BE9-8B04D63F81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52701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d7d1018a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6d7d1018a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72200"/>
            <a:ext cx="18288000" cy="421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24177" y="3549200"/>
            <a:ext cx="7063825" cy="673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title="download-removebg-preview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49650" y="-1428318"/>
            <a:ext cx="4054675" cy="40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57850" y="1655700"/>
            <a:ext cx="10599300" cy="3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Integrantes: Gabriel Duran, Diego Miranda</a:t>
            </a:r>
            <a:endParaRPr sz="3200"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Seccion: 002D</a:t>
            </a:r>
            <a:endParaRPr sz="3200"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Fecha: 1/04/2026</a:t>
            </a:r>
            <a:endParaRPr sz="3200"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lvl="0"/>
            <a:r>
              <a:rPr lang="en-US" sz="32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Docente: </a:t>
            </a:r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EDUARDO ANTONIO BAEZA ESCOBAR</a:t>
            </a:r>
            <a:endParaRPr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085B233-0D48-AA6C-807B-888C5AEDA8BB}"/>
              </a:ext>
            </a:extLst>
          </p:cNvPr>
          <p:cNvSpPr txBox="1"/>
          <p:nvPr/>
        </p:nvSpPr>
        <p:spPr>
          <a:xfrm>
            <a:off x="1050878" y="599019"/>
            <a:ext cx="122829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Gasfired</a:t>
            </a:r>
            <a:endParaRPr lang="es-ES" sz="4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7980012" y="3297484"/>
            <a:ext cx="5888388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 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570000" y="303925"/>
            <a:ext cx="165231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dirty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Visión 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354850" y="2771846"/>
            <a:ext cx="6154500" cy="495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lvl="1" indent="-361950">
              <a:lnSpc>
                <a:spcPct val="140000"/>
              </a:lnSpc>
              <a:buClr>
                <a:srgbClr val="FFFFFF"/>
              </a:buClr>
              <a:buSzPts val="2100"/>
              <a:buChar char="•"/>
            </a:pPr>
            <a:r>
              <a:rPr lang="es-E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Desarrollar una plataforma web que conecte a clientes con gasfíteres profesionales de forma rápida y confiable, permitiendo buscar, comparar y contactar profesionales del área según ubicación y calificaciones, mejorando la experiencia tanto del cliente como del profesional mediante una interfaz intuitiva y accesible.</a:t>
            </a:r>
            <a:br>
              <a:rPr lang="en-US" dirty="0">
                <a:solidFill>
                  <a:schemeClr val="lt1"/>
                </a:solidFill>
              </a:rPr>
            </a:br>
            <a:endParaRPr dirty="0">
              <a:solidFill>
                <a:schemeClr val="lt1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3134300" y="4115827"/>
            <a:ext cx="4603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11325"/>
            <a:ext cx="18922353" cy="35756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398163" y="404375"/>
            <a:ext cx="8253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dirty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Objetivos</a:t>
            </a:r>
            <a:endParaRPr dirty="0"/>
          </a:p>
        </p:txBody>
      </p:sp>
      <p:sp>
        <p:nvSpPr>
          <p:cNvPr id="5" name="Google Shape;100;p14"/>
          <p:cNvSpPr txBox="1"/>
          <p:nvPr/>
        </p:nvSpPr>
        <p:spPr>
          <a:xfrm>
            <a:off x="14050014" y="5639200"/>
            <a:ext cx="9323400" cy="3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79FF48A-6A28-A0AD-7634-7E240BB8E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0012" y="2679007"/>
            <a:ext cx="893846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Registrar y gestionar perfiles de gasfíteres y clientes en la plataforma.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Permitir la búsqueda y filtrado de profesionales por servicio Gestionar calificaciones y reseñas de los gasfíteres por parte de los clientes.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Detectar y moderar contenido inapropiado en el módulo de reseñas.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Visualizar listados de profesionales y sus perfiles completos con datos de contacto.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Aplicar el marco Scrum para el desarrollo incremental del software a lo largo de 5 sprints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/>
        </p:nvSpPr>
        <p:spPr>
          <a:xfrm>
            <a:off x="445049" y="493950"/>
            <a:ext cx="8253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Roles de Scrum</a:t>
            </a:r>
            <a:endParaRPr/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124975"/>
            <a:ext cx="7947682" cy="6408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62900" y="-639000"/>
            <a:ext cx="8839201" cy="5175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36925" y="0"/>
            <a:ext cx="6951074" cy="58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427750" y="6256350"/>
            <a:ext cx="9323400" cy="3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 b="1" dirty="0">
                <a:solidFill>
                  <a:schemeClr val="lt1"/>
                </a:solidFill>
              </a:rPr>
              <a:t>Product Owner:</a:t>
            </a:r>
            <a:r>
              <a:rPr lang="en-US" sz="2000" dirty="0">
                <a:solidFill>
                  <a:schemeClr val="lt1"/>
                </a:solidFill>
              </a:rPr>
              <a:t> Gabriel Duran</a:t>
            </a:r>
            <a:br>
              <a:rPr lang="en-US" sz="2000" dirty="0">
                <a:solidFill>
                  <a:schemeClr val="lt1"/>
                </a:solidFill>
              </a:rPr>
            </a:br>
            <a:r>
              <a:rPr lang="en-US" sz="2000" dirty="0">
                <a:solidFill>
                  <a:schemeClr val="lt1"/>
                </a:solidFill>
              </a:rPr>
              <a:t>Define </a:t>
            </a:r>
            <a:r>
              <a:rPr lang="en-US" sz="2000" dirty="0" err="1">
                <a:solidFill>
                  <a:schemeClr val="lt1"/>
                </a:solidFill>
              </a:rPr>
              <a:t>prioridades</a:t>
            </a:r>
            <a:r>
              <a:rPr lang="en-US" sz="2000" dirty="0">
                <a:solidFill>
                  <a:schemeClr val="lt1"/>
                </a:solidFill>
              </a:rPr>
              <a:t> del Backlog y </a:t>
            </a:r>
            <a:r>
              <a:rPr lang="en-US" sz="2000" dirty="0" err="1">
                <a:solidFill>
                  <a:schemeClr val="lt1"/>
                </a:solidFill>
              </a:rPr>
              <a:t>representa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los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intereses</a:t>
            </a:r>
            <a:r>
              <a:rPr lang="en-US" sz="2000" dirty="0">
                <a:solidFill>
                  <a:schemeClr val="lt1"/>
                </a:solidFill>
              </a:rPr>
              <a:t> del </a:t>
            </a:r>
            <a:r>
              <a:rPr lang="en-US" sz="2000" dirty="0" err="1">
                <a:solidFill>
                  <a:schemeClr val="lt1"/>
                </a:solidFill>
              </a:rPr>
              <a:t>cliente</a:t>
            </a:r>
            <a:r>
              <a:rPr lang="en-US" sz="2000" dirty="0">
                <a:solidFill>
                  <a:schemeClr val="lt1"/>
                </a:solidFill>
              </a:rPr>
              <a:t>.</a:t>
            </a:r>
            <a:endParaRPr sz="2000" dirty="0">
              <a:solidFill>
                <a:schemeClr val="lt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 b="1" dirty="0">
                <a:solidFill>
                  <a:schemeClr val="lt1"/>
                </a:solidFill>
              </a:rPr>
              <a:t>Scrum Master:</a:t>
            </a:r>
            <a:r>
              <a:rPr lang="en-US" sz="2000" dirty="0">
                <a:solidFill>
                  <a:schemeClr val="lt1"/>
                </a:solidFill>
              </a:rPr>
              <a:t> Diego Miranda</a:t>
            </a:r>
            <a:br>
              <a:rPr lang="en-US" sz="2000" dirty="0">
                <a:solidFill>
                  <a:schemeClr val="lt1"/>
                </a:solidFill>
              </a:rPr>
            </a:br>
            <a:r>
              <a:rPr lang="en-US" sz="2000" dirty="0" err="1">
                <a:solidFill>
                  <a:schemeClr val="lt1"/>
                </a:solidFill>
              </a:rPr>
              <a:t>Facilita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reuniones</a:t>
            </a:r>
            <a:r>
              <a:rPr lang="en-US" sz="2000" dirty="0">
                <a:solidFill>
                  <a:schemeClr val="lt1"/>
                </a:solidFill>
              </a:rPr>
              <a:t>, </a:t>
            </a:r>
            <a:r>
              <a:rPr lang="en-US" sz="2000" dirty="0" err="1">
                <a:solidFill>
                  <a:schemeClr val="lt1"/>
                </a:solidFill>
              </a:rPr>
              <a:t>elimina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impedimentos</a:t>
            </a:r>
            <a:r>
              <a:rPr lang="en-US" sz="2000" dirty="0">
                <a:solidFill>
                  <a:schemeClr val="lt1"/>
                </a:solidFill>
              </a:rPr>
              <a:t> y vela por </a:t>
            </a:r>
            <a:r>
              <a:rPr lang="en-US" sz="2000" dirty="0" err="1">
                <a:solidFill>
                  <a:schemeClr val="lt1"/>
                </a:solidFill>
              </a:rPr>
              <a:t>el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cumplimiento</a:t>
            </a:r>
            <a:r>
              <a:rPr lang="en-US" sz="2000" dirty="0">
                <a:solidFill>
                  <a:schemeClr val="lt1"/>
                </a:solidFill>
              </a:rPr>
              <a:t> del </a:t>
            </a:r>
            <a:r>
              <a:rPr lang="en-US" sz="2000" dirty="0" err="1">
                <a:solidFill>
                  <a:schemeClr val="lt1"/>
                </a:solidFill>
              </a:rPr>
              <a:t>marco</a:t>
            </a:r>
            <a:r>
              <a:rPr lang="en-US" sz="2000" dirty="0">
                <a:solidFill>
                  <a:schemeClr val="lt1"/>
                </a:solidFill>
              </a:rPr>
              <a:t> Scrum.</a:t>
            </a:r>
            <a:endParaRPr sz="2000" dirty="0">
              <a:solidFill>
                <a:schemeClr val="lt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 b="1" dirty="0">
                <a:solidFill>
                  <a:schemeClr val="lt1"/>
                </a:solidFill>
              </a:rPr>
              <a:t>Scrum Team:</a:t>
            </a:r>
            <a:r>
              <a:rPr lang="en-US" sz="2000" dirty="0">
                <a:solidFill>
                  <a:schemeClr val="lt1"/>
                </a:solidFill>
              </a:rPr>
              <a:t> Ambos </a:t>
            </a:r>
            <a:r>
              <a:rPr lang="en-US" sz="2000" dirty="0" err="1">
                <a:solidFill>
                  <a:schemeClr val="lt1"/>
                </a:solidFill>
              </a:rPr>
              <a:t>integrantes</a:t>
            </a:r>
            <a:br>
              <a:rPr lang="en-US" sz="2000" dirty="0">
                <a:solidFill>
                  <a:schemeClr val="lt1"/>
                </a:solidFill>
              </a:rPr>
            </a:br>
            <a:r>
              <a:rPr lang="en-US" sz="2000" dirty="0" err="1">
                <a:solidFill>
                  <a:schemeClr val="lt1"/>
                </a:solidFill>
              </a:rPr>
              <a:t>Desarrollan</a:t>
            </a:r>
            <a:r>
              <a:rPr lang="en-US" sz="2000" dirty="0">
                <a:solidFill>
                  <a:schemeClr val="lt1"/>
                </a:solidFill>
              </a:rPr>
              <a:t>, </a:t>
            </a:r>
            <a:r>
              <a:rPr lang="en-US" sz="2000" dirty="0" err="1">
                <a:solidFill>
                  <a:schemeClr val="lt1"/>
                </a:solidFill>
              </a:rPr>
              <a:t>documentan</a:t>
            </a:r>
            <a:r>
              <a:rPr lang="en-US" sz="2000" dirty="0">
                <a:solidFill>
                  <a:schemeClr val="lt1"/>
                </a:solidFill>
              </a:rPr>
              <a:t>, </a:t>
            </a:r>
            <a:r>
              <a:rPr lang="en-US" sz="2000" dirty="0" err="1">
                <a:solidFill>
                  <a:schemeClr val="lt1"/>
                </a:solidFill>
              </a:rPr>
              <a:t>prueban</a:t>
            </a:r>
            <a:r>
              <a:rPr lang="en-US" sz="2000" dirty="0">
                <a:solidFill>
                  <a:schemeClr val="lt1"/>
                </a:solidFill>
              </a:rPr>
              <a:t> y </a:t>
            </a:r>
            <a:r>
              <a:rPr lang="en-US" sz="2000" dirty="0" err="1">
                <a:solidFill>
                  <a:schemeClr val="lt1"/>
                </a:solidFill>
              </a:rPr>
              <a:t>presentan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los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avances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en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cada</a:t>
            </a:r>
            <a:r>
              <a:rPr lang="en-US" sz="2000" dirty="0">
                <a:solidFill>
                  <a:schemeClr val="lt1"/>
                </a:solidFill>
              </a:rPr>
              <a:t> Sprint.</a:t>
            </a:r>
            <a:endParaRPr sz="20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6350" y="-300225"/>
            <a:ext cx="22276675" cy="140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928350" y="731525"/>
            <a:ext cx="69951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Epicas y Técnica de Priorización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440700" y="3764300"/>
            <a:ext cx="6995100" cy="3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Metodologías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Ágiles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utilizadas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Tecnica: Planning Poker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Scrum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Escala: Puntos de Historia(Fibonacci)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6" title="agile-metho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92213" y="2006975"/>
            <a:ext cx="5953125" cy="584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7"/>
          <p:cNvGrpSpPr/>
          <p:nvPr/>
        </p:nvGrpSpPr>
        <p:grpSpPr>
          <a:xfrm>
            <a:off x="6927107" y="249525"/>
            <a:ext cx="9395700" cy="4469538"/>
            <a:chOff x="-1176200" y="-566933"/>
            <a:chExt cx="12527600" cy="5959384"/>
          </a:xfrm>
        </p:grpSpPr>
        <p:sp>
          <p:nvSpPr>
            <p:cNvPr id="123" name="Google Shape;123;p17"/>
            <p:cNvSpPr txBox="1"/>
            <p:nvPr/>
          </p:nvSpPr>
          <p:spPr>
            <a:xfrm>
              <a:off x="-1176200" y="-566933"/>
              <a:ext cx="11351400" cy="26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800" b="1" dirty="0">
                  <a:solidFill>
                    <a:schemeClr val="lt1"/>
                  </a:solidFill>
                </a:rPr>
                <a:t>PRODUCT BACKLOG</a:t>
              </a:r>
              <a:endParaRPr sz="2800" b="1" dirty="0">
                <a:solidFill>
                  <a:schemeClr val="lt1"/>
                </a:solidFill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8799" dirty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0" y="5105051"/>
              <a:ext cx="113514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F54F9977-5C14-FC1E-7894-9384EC792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212" y="1381700"/>
            <a:ext cx="13887451" cy="837247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/>
        </p:nvSpPr>
        <p:spPr>
          <a:xfrm>
            <a:off x="914400" y="563900"/>
            <a:ext cx="161697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ES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Historia Pivote: RF-02</a:t>
            </a:r>
            <a:r>
              <a:rPr lang="es-E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32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usuario registrado, quiero iniciar sesión con mi correo electrónico y contraseña, para acceder a la plataforma según mi rol asignado.</a:t>
            </a:r>
            <a:endParaRPr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453273" y="1871810"/>
            <a:ext cx="16169700" cy="841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Historia Pivote: RF-02</a:t>
            </a:r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28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usuario registrado, quiero iniciar sesión con mi correo electrónico y contraseña, para acceder a la plataforma según mi rol asignado.</a:t>
            </a:r>
            <a:endParaRPr lang="es-E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Elegimos el RF-02, "Inicio de sesión mediante credenciales de acceso (correo electrónico y contraseña)", como requerimiento pivote porque representa una funcionalidad simple, clara y universalmente reconocida en cualquier sistema con autenticación. Este requerimiento implica una operación acotada y bien definida: validar las credenciales ingresadas contra la base de datos, generar una sesión o token de acceso, y redirigir al usuario según su rol (Cliente, Gasfíter o Administrador), sin lógica de negocio compleja ni dependencias con módulos externos al de autenticación.</a:t>
            </a:r>
          </a:p>
          <a:p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 bajo nivel de esfuerzo técnico, su independencia respecto a otros módulos y su capacidad de ser desarrollado y probado de forma aislada lo hacen ideal para ser usado como punto de comparación. Al tomarlo como referencia con un valor de </a:t>
            </a:r>
            <a:r>
              <a:rPr lang="es-E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puntos de historia (equivalente a 6 horas de trabajo en equipo)</a:t>
            </a:r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podemos estimar el esfuerzo relativo del resto de los requerimientos preguntándonos si cada uno requiere más, menos o el mismo nivel de trabajo que este.</a:t>
            </a:r>
          </a:p>
          <a:p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Gracias a estas características, el RF-02 nos proporciona una base sólida y coherente para aplicar una estimación relativa en los 19 requerimientos restantes del proyecto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55050" y="0"/>
            <a:ext cx="463295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 txBox="1"/>
          <p:nvPr/>
        </p:nvSpPr>
        <p:spPr>
          <a:xfrm>
            <a:off x="3238500" y="425450"/>
            <a:ext cx="99423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Sprint 1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985FB5-08A1-C31D-14A6-59CA91A55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561" y="2579427"/>
            <a:ext cx="11901778" cy="6073254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4975" y="1"/>
            <a:ext cx="628651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 txBox="1"/>
          <p:nvPr/>
        </p:nvSpPr>
        <p:spPr>
          <a:xfrm>
            <a:off x="3238500" y="425450"/>
            <a:ext cx="99423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Sprint 2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EB25F2A-9EF4-C732-5C6F-546AF6C73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504" y="2579427"/>
            <a:ext cx="10223471" cy="4885897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4975" y="1"/>
            <a:ext cx="628651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/>
        </p:nvSpPr>
        <p:spPr>
          <a:xfrm>
            <a:off x="3238500" y="425450"/>
            <a:ext cx="99423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Sprint 3</a:t>
            </a:r>
            <a:endParaRPr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C9E6D47-E06A-F42D-A3FD-4D42BD838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756" y="3109984"/>
            <a:ext cx="9307773" cy="4067032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62">
          <a:extLst>
            <a:ext uri="{FF2B5EF4-FFF2-40B4-BE49-F238E27FC236}">
              <a16:creationId xmlns:a16="http://schemas.microsoft.com/office/drawing/2014/main" id="{961E516E-9D44-1464-A287-7622ECF25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2">
            <a:extLst>
              <a:ext uri="{FF2B5EF4-FFF2-40B4-BE49-F238E27FC236}">
                <a16:creationId xmlns:a16="http://schemas.microsoft.com/office/drawing/2014/main" id="{4D6B5F4F-A701-EB1C-C448-66AF2F2F83E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4975" y="1"/>
            <a:ext cx="628651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E248DF7E-ABBC-0577-2EFB-DC27DB1B3021}"/>
              </a:ext>
            </a:extLst>
          </p:cNvPr>
          <p:cNvSpPr txBox="1"/>
          <p:nvPr/>
        </p:nvSpPr>
        <p:spPr>
          <a:xfrm>
            <a:off x="3238500" y="425450"/>
            <a:ext cx="99423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dirty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Sprint 4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905BA70-6E9B-302D-CD39-3A7F18597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561" y="2491148"/>
            <a:ext cx="9415463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14040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62">
          <a:extLst>
            <a:ext uri="{FF2B5EF4-FFF2-40B4-BE49-F238E27FC236}">
              <a16:creationId xmlns:a16="http://schemas.microsoft.com/office/drawing/2014/main" id="{BA296620-073F-F85B-6DBE-E8A75086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2">
            <a:extLst>
              <a:ext uri="{FF2B5EF4-FFF2-40B4-BE49-F238E27FC236}">
                <a16:creationId xmlns:a16="http://schemas.microsoft.com/office/drawing/2014/main" id="{7E0A2A3A-57E9-2237-BDC8-23A29BA4712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4975" y="1"/>
            <a:ext cx="628651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8F6C0D90-C560-2CD6-E703-F25D7230D529}"/>
              </a:ext>
            </a:extLst>
          </p:cNvPr>
          <p:cNvSpPr txBox="1"/>
          <p:nvPr/>
        </p:nvSpPr>
        <p:spPr>
          <a:xfrm>
            <a:off x="3238500" y="425450"/>
            <a:ext cx="99423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dirty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Sprint 5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CE7AF03-8402-B5B4-52B7-DA91227EF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175" y="2343149"/>
            <a:ext cx="10144125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68549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/>
        </p:nvSpPr>
        <p:spPr>
          <a:xfrm>
            <a:off x="3606654" y="433524"/>
            <a:ext cx="7391400" cy="13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de Fluctuación de trabajo por Sprint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812042" y="2178263"/>
            <a:ext cx="11546006" cy="7804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Análisis de Fluctuación de Trabajo por Sprint</a:t>
            </a:r>
            <a:endParaRPr lang="es-ES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Sprint 1 (30h):</a:t>
            </a:r>
            <a:r>
              <a:rPr lang="es-E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Carga inicial moderada, enfocada en las funcionalidades base del sistema. Incluye registro de usuarios, inicio de sesión, recuperación de contraseña y configuración de cuenta. Son tareas fundamentales, pero técnicamente acotadas y sin dependencias entre módulos.</a:t>
            </a:r>
          </a:p>
          <a:p>
            <a:r>
              <a:rPr lang="es-E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Sprint 2 (39h):</a:t>
            </a:r>
            <a:r>
              <a:rPr lang="es-E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Aumento de carga (↑9h), dado que se construyen formularios más complejos como el perfil público del gasfíter con foto y datos de contacto, la definición del área de cobertura geográfica y el perfil privado del cliente.</a:t>
            </a:r>
          </a:p>
          <a:p>
            <a:r>
              <a:rPr lang="es-E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Sprint 3 (39h):</a:t>
            </a:r>
            <a:r>
              <a:rPr lang="es-E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Carga estable (↕0h), pero con mayor complejidad técnica. Se implementa el portafolio fotográfico y el motor de búsqueda por palabras clave, que implica lógica de indexación y consultas más elaboradas.</a:t>
            </a:r>
          </a:p>
          <a:p>
            <a:r>
              <a:rPr lang="es-E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Sprint 4 (54h):</a:t>
            </a:r>
            <a:r>
              <a:rPr lang="es-E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Aumento significativo (↑15h), el sprint más exigente en variedad de funcionalidades. Se desarrollan los filtros geográficos, el listado de resultados, la vista de perfil completo y el sistema de calificaciones con estrellas.</a:t>
            </a:r>
          </a:p>
          <a:p>
            <a:r>
              <a:rPr lang="es-E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Sprint 5 (72h):</a:t>
            </a:r>
            <a:r>
              <a:rPr lang="es-E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Mayor carga del proyecto (↑18h), concentra todo el módulo de administración y el cierre del sistema de reseñas. Incluye panel de control, gestión de usuarios y moderación de contenido.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7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3" title="rf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8750" y="213350"/>
            <a:ext cx="4655050" cy="465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1A1A5AD-0A34-CD47-4460-8E6C0083831F}"/>
              </a:ext>
            </a:extLst>
          </p:cNvPr>
          <p:cNvSpPr txBox="1"/>
          <p:nvPr/>
        </p:nvSpPr>
        <p:spPr>
          <a:xfrm>
            <a:off x="12869839" y="5268036"/>
            <a:ext cx="379407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¿Cómo se distribuye esto en 2 semanas?</a:t>
            </a:r>
            <a:endParaRPr lang="es-E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 sprint tiene una duración de 2 semanas, lo que equivale a:</a:t>
            </a:r>
          </a:p>
          <a:p>
            <a:r>
              <a:rPr lang="es-E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días hábiles</a:t>
            </a:r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(lunes a viernes durante 2 semanas)</a:t>
            </a:r>
          </a:p>
          <a:p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sprint más exigente es el Sprint 5 con </a:t>
            </a:r>
            <a:r>
              <a:rPr lang="es-E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72 horas</a:t>
            </a:r>
            <a:endParaRPr lang="es-E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2925" y="0"/>
            <a:ext cx="8239125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/>
        </p:nvSpPr>
        <p:spPr>
          <a:xfrm>
            <a:off x="380000" y="408900"/>
            <a:ext cx="94083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Conclusión</a:t>
            </a:r>
            <a:endParaRPr/>
          </a:p>
        </p:txBody>
      </p:sp>
      <p:pic>
        <p:nvPicPr>
          <p:cNvPr id="212" name="Google Shape;21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6986" y="1763401"/>
            <a:ext cx="7851001" cy="708952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/>
        </p:nvSpPr>
        <p:spPr>
          <a:xfrm>
            <a:off x="380000" y="2076400"/>
            <a:ext cx="9408300" cy="7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adopción de la metodología ágil Scrum como marco de trabajo para el desarrollo de esta plataforma permitirá al equipo abordar el proyecto de forma organizada, iterativa y flexible. Al estructurar el trabajo en sprints con requerimientos priorizados y estimados, se busca garantizar una entrega continua de valor, adaptándose a los cambios y manteniendo siempre el foco en las necesidades del usuario final.</a:t>
            </a:r>
            <a:endParaRPr sz="2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846</Words>
  <Application>Microsoft Office PowerPoint</Application>
  <PresentationFormat>Personalizado</PresentationFormat>
  <Paragraphs>58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Calibri</vt:lpstr>
      <vt:lpstr>Josefin Sans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diego miranda henriquez</cp:lastModifiedBy>
  <cp:revision>7</cp:revision>
  <dcterms:modified xsi:type="dcterms:W3CDTF">2026-04-01T01:49:55Z</dcterms:modified>
</cp:coreProperties>
</file>